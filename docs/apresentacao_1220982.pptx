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6D09A-4266-4C3E-A8D3-A694D9CB9558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E28EBA-7DDE-40FC-BC70-476CB56D6B2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162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A779B-BD10-340E-6A51-D9E72C976B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58EF0-3204-4FEA-8E3B-E8A6B32146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06280-2C4A-1CD7-D309-3CB70F58F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0F10A-3ABD-4525-A60E-E5C024CC7428}" type="datetime1">
              <a:rPr lang="en-GB" smtClean="0"/>
              <a:pPr/>
              <a:t>07/09/2026</a:t>
            </a:fld>
            <a:r>
              <a:rPr lang="en-GB" dirty="0"/>
              <a:t> | </a:t>
            </a:r>
            <a:fld id="{79E06065-9178-4AEF-A744-116DA684C8EF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751D1-6C81-BA67-41D9-A9D505311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A2F75-A718-FE8E-5D30-7B89DA85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6413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44375-1B67-7A0F-0A12-F89700B56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D2F34-5F38-BF41-50C7-7152D47E2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EFA4E-0EBD-1235-3A2C-30CC0E959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0F10A-3ABD-4525-A60E-E5C024CC7428}" type="datetime1">
              <a:rPr lang="en-GB" smtClean="0"/>
              <a:pPr/>
              <a:t>07/09/2026</a:t>
            </a:fld>
            <a:r>
              <a:rPr lang="en-GB" dirty="0"/>
              <a:t> | </a:t>
            </a:r>
            <a:fld id="{79E06065-9178-4AEF-A744-116DA684C8EF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8D896-4D74-1CB1-B3C5-172AAAD54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CCEF0-03BE-19C3-A714-A2C163344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5074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98ECD-B864-9A5D-2B4D-03BC4F49C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6D589-F388-19F4-CC30-41CC02730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5EDEB-B5D8-4956-AA53-73B8ADE6C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0F10A-3ABD-4525-A60E-E5C024CC7428}" type="datetime1">
              <a:rPr lang="en-GB" smtClean="0"/>
              <a:pPr/>
              <a:t>07/09/2026</a:t>
            </a:fld>
            <a:r>
              <a:rPr lang="en-GB" dirty="0"/>
              <a:t> | </a:t>
            </a:r>
            <a:fld id="{79E06065-9178-4AEF-A744-116DA684C8EF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97546-D7B7-1684-C2E5-C8F363646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90D0A-4963-1DFB-72AF-07B74001E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60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8DD1B-F1E2-8B70-7DCE-8C3CB7C7D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5949F-D6D2-6684-149F-C2497AE95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0C02D5-D953-309A-4A9D-9DD8CFE83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C8788-A084-8BA9-A439-F14ADAADD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0F10A-3ABD-4525-A60E-E5C024CC7428}" type="datetime1">
              <a:rPr lang="en-GB" smtClean="0"/>
              <a:pPr/>
              <a:t>07/09/2026</a:t>
            </a:fld>
            <a:r>
              <a:rPr lang="en-GB" dirty="0"/>
              <a:t> | </a:t>
            </a:r>
            <a:fld id="{79E06065-9178-4AEF-A744-116DA684C8EF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7A74A-678B-8FD5-4E1B-74E90E0EB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DBEE7-C0CA-0E41-F3AA-65E3C82B5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2306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43782-D334-7583-A521-12A409A8F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8DF4D-4564-CA86-3003-12864A6BF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D8E00-95A4-2278-D2EE-903A50A69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CE6102-100D-68E9-89ED-81AB3D7BA1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A3E35-750A-9221-1E1B-838DDDC1E9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C6EFDF-CC26-6BB2-02F5-1BE6C5597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247D-FE31-49CA-B924-E8CCEAC796AC}" type="datetime1">
              <a:rPr lang="en-GB" smtClean="0"/>
              <a:pPr/>
              <a:t>07/09/2026</a:t>
            </a:fld>
            <a:r>
              <a:rPr lang="en-GB" dirty="0"/>
              <a:t> | </a:t>
            </a:r>
            <a:fld id="{79E06065-9178-4AEF-A744-116DA684C8EF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7EDE04-75F9-FDA1-4593-9BC0B8B6D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B980B2-57C3-6774-5D38-665B83791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5209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A24C0-17E7-481F-A16F-8D4DDEAB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125149-1F60-5EE8-CCEB-A2F19A0EF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30B39-C40D-4470-8FF2-BAD4DB12A879}" type="datetime1">
              <a:rPr lang="en-GB" smtClean="0"/>
              <a:pPr/>
              <a:t>07/09/2026</a:t>
            </a:fld>
            <a:r>
              <a:rPr lang="en-GB" dirty="0"/>
              <a:t> | </a:t>
            </a:r>
            <a:fld id="{79E06065-9178-4AEF-A744-116DA684C8EF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2CE24E-8C92-125F-B442-15EB2087C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DB9AF3-24CC-0E97-D509-64CCA6B9D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813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91D5AA-AF88-6336-A405-88ED2175E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888A0-F531-4F10-8186-A777765633B1}" type="datetime1">
              <a:rPr lang="en-GB" smtClean="0"/>
              <a:pPr/>
              <a:t>07/09/2026</a:t>
            </a:fld>
            <a:r>
              <a:rPr lang="en-GB" dirty="0"/>
              <a:t> | </a:t>
            </a:r>
            <a:fld id="{79E06065-9178-4AEF-A744-116DA684C8EF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596D3A-3577-C00E-AA70-3BC3FA6A8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5D0B3-8135-06D3-6851-8251397C7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1270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AEB0C-5E93-6107-423B-7D82A3CC2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ED509-9D34-0C71-5F97-FDC3D9B3A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0B2E28-5E26-DBC8-6564-4CD9CFB03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6955D-D3C9-5FAD-D910-4B65A1408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68C93-8432-4BA2-B564-E35B5AB08CBB}" type="datetime1">
              <a:rPr lang="en-GB" smtClean="0"/>
              <a:pPr/>
              <a:t>07/09/2026</a:t>
            </a:fld>
            <a:r>
              <a:rPr lang="en-GB" dirty="0"/>
              <a:t> | </a:t>
            </a:r>
            <a:fld id="{79E06065-9178-4AEF-A744-116DA684C8EF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560E4-272B-8AF2-E6DD-A40949E64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984563-39CE-6FF1-005B-C5D2CD2F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693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4194B-9F4A-8428-A5B2-D8C49095A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3D7ECF-FBC8-B3E6-EE36-7FFD5D8223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53FF92-94F5-0342-FB5B-852E41DC5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F7EE5-3446-E3B3-2548-5CBD55966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BFF7-065F-4DE3-9ACA-21401591BF0A}" type="datetime1">
              <a:rPr lang="en-GB" smtClean="0"/>
              <a:pPr/>
              <a:t>07/09/2026</a:t>
            </a:fld>
            <a:r>
              <a:rPr lang="en-GB" dirty="0"/>
              <a:t> | </a:t>
            </a:r>
            <a:fld id="{79E06065-9178-4AEF-A744-116DA684C8EF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C2226-CAB3-D6F0-4ABC-EB079432B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324C8B-CFC2-F945-BD16-E7D85B2CF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3036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80CF9-4662-4FD0-0BFF-D4B5432E9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5FF4B3-194F-E01D-FCC3-C7AAED121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C58C5-61F9-F841-DAF6-E24B59BB7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B1855-A5EE-4344-9CC8-11629570B8F7}" type="datetime1">
              <a:rPr lang="en-GB" smtClean="0"/>
              <a:pPr/>
              <a:t>07/09/2026</a:t>
            </a:fld>
            <a:r>
              <a:rPr lang="en-GB" dirty="0"/>
              <a:t> | </a:t>
            </a:r>
            <a:fld id="{79E06065-9178-4AEF-A744-116DA684C8EF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3D7EC-9EAC-21F4-A75B-4AED84FFC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28704-15FD-49FC-72E5-5F6615CF2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2584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405696-891B-67CF-66E5-8189F2D830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D69296-B932-D6A9-5032-721710ACD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42994-53DB-DD9D-E9D1-56E34C82F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6E1ED-3814-4E02-9B34-C09FE4D659A6}" type="datetime1">
              <a:rPr lang="en-GB" smtClean="0"/>
              <a:pPr/>
              <a:t>07/09/2026</a:t>
            </a:fld>
            <a:r>
              <a:rPr lang="en-GB" dirty="0"/>
              <a:t> | </a:t>
            </a:r>
            <a:fld id="{79E06065-9178-4AEF-A744-116DA684C8EF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DC8CC-40E0-B793-DA86-85129117C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BD043-C531-8809-7A84-7C1CE0B52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6163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A84EFF-0EA8-3E8D-22B4-F43243695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373A5-C2DE-D67A-AA7B-D8E46FA4D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1773B-6604-207A-A119-F202C71307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004BA5-8AE9-4E43-AB0C-0D483EF4651F}" type="datetime1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9D993-BA78-6EFA-FAAD-D21C9B1494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43A25-9B7A-109C-5AEA-8BFA3A611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06065-9178-4AEF-A744-116DA684C8E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833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1E4C717F-6567-B18F-C03C-803B280C0C53}"/>
              </a:ext>
            </a:extLst>
          </p:cNvPr>
          <p:cNvSpPr txBox="1">
            <a:spLocks noChangeArrowheads="1"/>
          </p:cNvSpPr>
          <p:nvPr/>
        </p:nvSpPr>
        <p:spPr>
          <a:xfrm>
            <a:off x="1368425" y="3861707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PT" altLang="pt-PT" dirty="0">
                <a:solidFill>
                  <a:srgbClr val="5C5C5C"/>
                </a:solidFill>
              </a:rPr>
              <a:t>Diogo André Dias de Sousa</a:t>
            </a:r>
          </a:p>
          <a:p>
            <a:pPr marL="0" indent="0">
              <a:buFont typeface="Calibri" panose="020F0502020204030204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PT" altLang="pt-PT" dirty="0">
                <a:solidFill>
                  <a:srgbClr val="5C5C5C"/>
                </a:solidFill>
              </a:rPr>
              <a:t>1220982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ACB134E-E3BB-5BD7-1A61-1D1663A67B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424" y="2236788"/>
            <a:ext cx="8176791" cy="1008062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/>
          <a:lstStyle>
            <a:lvl1pPr marL="339725" indent="-339725" algn="just" defTabSz="449263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sz="2400">
                <a:solidFill>
                  <a:srgbClr val="000000"/>
                </a:solidFill>
                <a:latin typeface="+mn-lt"/>
                <a:ea typeface="Arial Unicode MS" pitchFamily="34" charset="-128"/>
                <a:cs typeface="+mn-cs"/>
              </a:defRPr>
            </a:lvl1pPr>
            <a:lvl2pPr marL="739775" indent="-282575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sz="2000">
                <a:solidFill>
                  <a:srgbClr val="000000"/>
                </a:solidFill>
                <a:latin typeface="+mn-lt"/>
                <a:ea typeface="Arial Unicode MS" pitchFamily="34" charset="-128"/>
                <a:cs typeface="+mn-cs"/>
              </a:defRPr>
            </a:lvl2pPr>
            <a:lvl3pPr marL="1143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sz="2000">
                <a:solidFill>
                  <a:srgbClr val="000000"/>
                </a:solidFill>
                <a:latin typeface="+mn-lt"/>
                <a:ea typeface="Arial Unicode MS" pitchFamily="34" charset="-128"/>
                <a:cs typeface="+mn-cs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sz="2000">
                <a:solidFill>
                  <a:srgbClr val="000000"/>
                </a:solidFill>
                <a:latin typeface="+mn-lt"/>
                <a:ea typeface="Arial Unicode MS" pitchFamily="34" charset="-128"/>
                <a:cs typeface="+mn-cs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»"/>
              <a:defRPr sz="2000">
                <a:solidFill>
                  <a:srgbClr val="000000"/>
                </a:solidFill>
                <a:latin typeface="+mn-lt"/>
                <a:ea typeface="Arial Unicode MS" pitchFamily="34" charset="-128"/>
                <a:cs typeface="+mn-cs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itchFamily="32" charset="0"/>
              <a:buChar char="»"/>
              <a:defRPr sz="2000">
                <a:solidFill>
                  <a:srgbClr val="000000"/>
                </a:solidFill>
                <a:latin typeface="+mn-lt"/>
                <a:cs typeface="+mn-cs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itchFamily="32" charset="0"/>
              <a:buChar char="»"/>
              <a:defRPr sz="2000">
                <a:solidFill>
                  <a:srgbClr val="000000"/>
                </a:solidFill>
                <a:latin typeface="+mn-lt"/>
                <a:cs typeface="+mn-cs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itchFamily="32" charset="0"/>
              <a:buChar char="»"/>
              <a:defRPr sz="2000">
                <a:solidFill>
                  <a:srgbClr val="000000"/>
                </a:solidFill>
                <a:latin typeface="+mn-lt"/>
                <a:cs typeface="+mn-cs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itchFamily="32" charset="0"/>
              <a:buChar char="»"/>
              <a:defRPr sz="2000">
                <a:solidFill>
                  <a:srgbClr val="000000"/>
                </a:solidFill>
                <a:latin typeface="+mn-lt"/>
                <a:cs typeface="+mn-cs"/>
              </a:defRPr>
            </a:lvl9pPr>
          </a:lstStyle>
          <a:p>
            <a:pPr marL="0" indent="0" algn="l">
              <a:buFont typeface="Calibri" panose="020F0502020204030204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pt-PT" altLang="pt-PT" sz="3000" kern="0" dirty="0">
                <a:solidFill>
                  <a:srgbClr val="5C5C5C"/>
                </a:solidFill>
              </a:rPr>
              <a:t>Sistema para Agendamento de Utilização de Laboratório Remoto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28DE2F-50BF-91DB-DBDF-F23CD7FBDD9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362940" y="1638557"/>
            <a:ext cx="3048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LEEC – </a:t>
            </a:r>
            <a:r>
              <a:rPr lang="en-GB" sz="2400" b="1" dirty="0" err="1">
                <a:solidFill>
                  <a:schemeClr val="bg1"/>
                </a:solidFill>
              </a:rPr>
              <a:t>Projeto/Estágio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9FE06E-4550-CA75-B538-266296F698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21883060-92BF-403E-85B7-86FBF24E5549}" type="datetime1">
              <a:rPr lang="en-GB" smtClean="0"/>
              <a:t>07/09/2026</a:t>
            </a:fld>
            <a:r>
              <a:rPr lang="en-GB" dirty="0"/>
              <a:t> | </a:t>
            </a:r>
            <a:fld id="{79E06065-9178-4AEF-A744-116DA684C8EF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9584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B743A7-211F-5EB6-7BD7-C8C08F6B8324}"/>
              </a:ext>
            </a:extLst>
          </p:cNvPr>
          <p:cNvSpPr txBox="1">
            <a:spLocks noChangeArrowheads="1"/>
          </p:cNvSpPr>
          <p:nvPr/>
        </p:nvSpPr>
        <p:spPr>
          <a:xfrm>
            <a:off x="995361" y="489856"/>
            <a:ext cx="7318375" cy="935945"/>
          </a:xfrm>
          <a:prstGeom prst="rect">
            <a:avLst/>
          </a:prstGeom>
        </p:spPr>
        <p:txBody>
          <a:bodyPr vert="horz" lIns="90000" tIns="46800" rIns="90000" bIns="4680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PT" altLang="pt-PT" sz="2400" dirty="0">
                <a:solidFill>
                  <a:schemeClr val="bg1"/>
                </a:solidFill>
                <a:latin typeface="+mn-lt"/>
              </a:rPr>
              <a:t>Sumário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79793A-A8C5-1B1F-8D72-0F7BCA81726E}"/>
              </a:ext>
            </a:extLst>
          </p:cNvPr>
          <p:cNvSpPr txBox="1">
            <a:spLocks noChangeArrowheads="1"/>
          </p:cNvSpPr>
          <p:nvPr/>
        </p:nvSpPr>
        <p:spPr>
          <a:xfrm>
            <a:off x="995361" y="1688420"/>
            <a:ext cx="8064500" cy="4489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pt-PT" altLang="pt-PT" sz="2000" dirty="0"/>
              <a:t>Contexto e problema</a:t>
            </a:r>
          </a:p>
          <a:p>
            <a:pPr marL="285750" indent="-285750" algn="l"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pt-PT" altLang="pt-PT" sz="2000" dirty="0"/>
              <a:t>Arquitetura do sistema</a:t>
            </a:r>
          </a:p>
          <a:p>
            <a:pPr marL="285750" indent="-285750" algn="l"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pt-PT" altLang="pt-PT" sz="2000" dirty="0"/>
              <a:t>Acesso ao laboratório e segurança</a:t>
            </a:r>
          </a:p>
          <a:p>
            <a:pPr marL="285750" indent="-285750" algn="l"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pt-PT" altLang="pt-PT" sz="2000" dirty="0"/>
              <a:t>Fila de espera em tempo real</a:t>
            </a:r>
          </a:p>
          <a:p>
            <a:pPr marL="285750" indent="-285750" algn="l"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pt-PT" altLang="pt-PT" sz="2000" dirty="0"/>
              <a:t>Resultados e validação</a:t>
            </a:r>
          </a:p>
          <a:p>
            <a:pPr marL="285750" indent="-285750" algn="l"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pt-PT" altLang="pt-PT" sz="2000" dirty="0"/>
              <a:t>Conclusões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B58FB1-01F4-78A4-6871-8E77498ED4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2E2E3821-E83A-4F95-AF4C-0071FD12CB04}" type="datetime1">
              <a:rPr lang="en-GB" smtClean="0"/>
              <a:pPr/>
              <a:t>07/09/2026</a:t>
            </a:fld>
            <a:r>
              <a:rPr lang="en-GB" dirty="0"/>
              <a:t> | </a:t>
            </a:r>
            <a:fld id="{79E06065-9178-4AEF-A744-116DA684C8EF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465729-FC69-6238-79D3-A5125D731A8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362940" y="1638557"/>
            <a:ext cx="3048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LEEC – </a:t>
            </a:r>
            <a:r>
              <a:rPr lang="en-GB" sz="2400" b="1" dirty="0" err="1">
                <a:solidFill>
                  <a:schemeClr val="bg1"/>
                </a:solidFill>
              </a:rPr>
              <a:t>Projeto/Estágio</a:t>
            </a:r>
            <a:endParaRPr lang="en-GB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339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B743A7-211F-5EB6-7BD7-C8C08F6B8324}"/>
              </a:ext>
            </a:extLst>
          </p:cNvPr>
          <p:cNvSpPr txBox="1">
            <a:spLocks noChangeArrowheads="1"/>
          </p:cNvSpPr>
          <p:nvPr/>
        </p:nvSpPr>
        <p:spPr>
          <a:xfrm>
            <a:off x="995361" y="489856"/>
            <a:ext cx="7318375" cy="935945"/>
          </a:xfrm>
          <a:prstGeom prst="rect">
            <a:avLst/>
          </a:prstGeom>
        </p:spPr>
        <p:txBody>
          <a:bodyPr vert="horz" lIns="90000" tIns="46800" rIns="90000" bIns="4680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PT" altLang="pt-PT" sz="2400" dirty="0">
                <a:solidFill>
                  <a:schemeClr val="bg1"/>
                </a:solidFill>
                <a:latin typeface="+mn-lt"/>
              </a:rPr>
              <a:t>Contexto e Problema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FB6BA23-AF7E-8DD9-7EAD-AB13FF088D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CF6CA9D0-41E5-406A-BB0B-C2560EB37320}" type="datetime1">
              <a:rPr lang="en-GB" smtClean="0"/>
              <a:pPr/>
              <a:t>07/09/2026</a:t>
            </a:fld>
            <a:r>
              <a:rPr lang="en-GB" dirty="0"/>
              <a:t> | </a:t>
            </a:r>
            <a:fld id="{79E06065-9178-4AEF-A744-116DA684C8EF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0285CC-7FFC-F917-ACCC-C37B40675DE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362940" y="1638557"/>
            <a:ext cx="3048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LEEC – </a:t>
            </a:r>
            <a:r>
              <a:rPr lang="en-GB" sz="2400" b="1" dirty="0" err="1">
                <a:solidFill>
                  <a:schemeClr val="bg1"/>
                </a:solidFill>
              </a:rPr>
              <a:t>Projeto/Estágio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96696" y="1737360"/>
            <a:ext cx="4892040" cy="361188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37744" rIns="228600" bIns="182880" rtlCol="0" anchor="t"/>
          <a:lstStyle/>
          <a:p>
            <a:pPr algn="ctr">
              <a:spcAft>
                <a:spcPts val="1400"/>
              </a:spcAft>
            </a:pPr>
            <a:r>
              <a:rPr sz="2200" b="1" dirty="0" err="1">
                <a:solidFill>
                  <a:srgbClr val="006D93"/>
                </a:solidFill>
                <a:latin typeface="Calibri"/>
              </a:rPr>
              <a:t>Situação</a:t>
            </a:r>
            <a:r>
              <a:rPr sz="2200" b="1" dirty="0">
                <a:solidFill>
                  <a:srgbClr val="006D93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006D93"/>
                </a:solidFill>
                <a:latin typeface="Calibri"/>
              </a:rPr>
              <a:t>inicial</a:t>
            </a:r>
            <a:endParaRPr sz="2200" b="1" dirty="0">
              <a:solidFill>
                <a:srgbClr val="006D93"/>
              </a:solidFill>
              <a:latin typeface="Calibri"/>
            </a:endParaRPr>
          </a:p>
          <a:p>
            <a:pPr marL="219456" indent="-219456">
              <a:spcAft>
                <a:spcPts val="1000"/>
              </a:spcAft>
              <a:buFont typeface="Arial"/>
              <a:buChar char="•"/>
            </a:pPr>
            <a:r>
              <a:rPr sz="2000" dirty="0" err="1">
                <a:solidFill>
                  <a:srgbClr val="1F2A33"/>
                </a:solidFill>
                <a:latin typeface="Calibri"/>
              </a:rPr>
              <a:t>Bancada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remota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já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existente</a:t>
            </a:r>
            <a:endParaRPr sz="2000" dirty="0">
              <a:solidFill>
                <a:srgbClr val="1F2A33"/>
              </a:solidFill>
              <a:latin typeface="Calibri"/>
            </a:endParaRPr>
          </a:p>
          <a:p>
            <a:pPr marL="219456" indent="-219456">
              <a:spcAft>
                <a:spcPts val="1000"/>
              </a:spcAft>
              <a:buFont typeface="Arial"/>
              <a:buChar char="•"/>
            </a:pPr>
            <a:r>
              <a:rPr sz="2000" dirty="0" err="1">
                <a:solidFill>
                  <a:srgbClr val="1F2A33"/>
                </a:solidFill>
                <a:latin typeface="Calibri"/>
              </a:rPr>
              <a:t>Acesso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informal,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sem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autenticação</a:t>
            </a:r>
            <a:endParaRPr sz="2000" dirty="0">
              <a:solidFill>
                <a:srgbClr val="1F2A33"/>
              </a:solidFill>
              <a:latin typeface="Calibri"/>
            </a:endParaRPr>
          </a:p>
          <a:p>
            <a:pPr marL="219456" indent="-219456">
              <a:spcAft>
                <a:spcPts val="1000"/>
              </a:spcAft>
              <a:buFont typeface="Arial"/>
              <a:buChar char="•"/>
            </a:pPr>
            <a:r>
              <a:rPr sz="2000" dirty="0" err="1">
                <a:solidFill>
                  <a:srgbClr val="1F2A33"/>
                </a:solidFill>
                <a:latin typeface="Calibri"/>
              </a:rPr>
              <a:t>Conflitos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de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utilização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entre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alunos</a:t>
            </a:r>
            <a:endParaRPr sz="2000" dirty="0">
              <a:solidFill>
                <a:srgbClr val="1F2A33"/>
              </a:solidFill>
              <a:latin typeface="Calibri"/>
            </a:endParaRPr>
          </a:p>
          <a:p>
            <a:pPr marL="219456" indent="-219456">
              <a:spcAft>
                <a:spcPts val="1000"/>
              </a:spcAft>
              <a:buFont typeface="Arial"/>
              <a:buChar char="•"/>
            </a:pPr>
            <a:r>
              <a:rPr sz="2000" dirty="0" err="1">
                <a:solidFill>
                  <a:srgbClr val="1F2A33"/>
                </a:solidFill>
                <a:latin typeface="Calibri"/>
              </a:rPr>
              <a:t>Equipamento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sempre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ligado</a:t>
            </a:r>
            <a:endParaRPr sz="2000" dirty="0">
              <a:solidFill>
                <a:srgbClr val="1F2A33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55080" y="1737360"/>
            <a:ext cx="4892040" cy="361188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37744" rIns="228600" bIns="182880" rtlCol="0" anchor="t"/>
          <a:lstStyle/>
          <a:p>
            <a:pPr algn="ctr">
              <a:spcAft>
                <a:spcPts val="1400"/>
              </a:spcAft>
            </a:pPr>
            <a:r>
              <a:rPr sz="2200" b="1" dirty="0" err="1">
                <a:solidFill>
                  <a:srgbClr val="006D93"/>
                </a:solidFill>
                <a:latin typeface="Calibri"/>
              </a:rPr>
              <a:t>Objetivos</a:t>
            </a:r>
            <a:endParaRPr sz="2200" b="1" dirty="0">
              <a:solidFill>
                <a:srgbClr val="006D93"/>
              </a:solidFill>
              <a:latin typeface="Calibri"/>
            </a:endParaRPr>
          </a:p>
          <a:p>
            <a:pPr marL="219456" indent="-219456">
              <a:spcAft>
                <a:spcPts val="1000"/>
              </a:spcAft>
              <a:buFont typeface="Arial"/>
              <a:buChar char="•"/>
            </a:pPr>
            <a:r>
              <a:rPr sz="2000" dirty="0" err="1">
                <a:solidFill>
                  <a:srgbClr val="1F2A33"/>
                </a:solidFill>
                <a:latin typeface="Calibri"/>
              </a:rPr>
              <a:t>Agendar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o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acesso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e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restringi</a:t>
            </a:r>
            <a:r>
              <a:rPr sz="2000" dirty="0">
                <a:solidFill>
                  <a:srgbClr val="1F2A33"/>
                </a:solidFill>
                <a:latin typeface="Calibri"/>
              </a:rPr>
              <a:t>-lo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ao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período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reservado</a:t>
            </a:r>
            <a:endParaRPr sz="2000" dirty="0">
              <a:solidFill>
                <a:srgbClr val="1F2A33"/>
              </a:solidFill>
              <a:latin typeface="Calibri"/>
            </a:endParaRPr>
          </a:p>
          <a:p>
            <a:pPr marL="219456" indent="-219456">
              <a:spcAft>
                <a:spcPts val="1000"/>
              </a:spcAft>
              <a:buFont typeface="Arial"/>
              <a:buChar char="•"/>
            </a:pPr>
            <a:r>
              <a:rPr sz="2000" dirty="0" err="1">
                <a:solidFill>
                  <a:srgbClr val="1F2A33"/>
                </a:solidFill>
                <a:latin typeface="Calibri"/>
              </a:rPr>
              <a:t>Autenticar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com as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credenciais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do DEE</a:t>
            </a:r>
          </a:p>
          <a:p>
            <a:pPr marL="219456" indent="-219456">
              <a:spcAft>
                <a:spcPts val="1000"/>
              </a:spcAft>
              <a:buFont typeface="Arial"/>
              <a:buChar char="•"/>
            </a:pPr>
            <a:r>
              <a:rPr sz="2000" dirty="0" err="1">
                <a:solidFill>
                  <a:srgbClr val="1F2A33"/>
                </a:solidFill>
                <a:latin typeface="Calibri"/>
              </a:rPr>
              <a:t>Distribuir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o tempo de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bancada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de forma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equitativa</a:t>
            </a:r>
            <a:endParaRPr sz="2000" dirty="0">
              <a:solidFill>
                <a:srgbClr val="1F2A33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8971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B743A7-211F-5EB6-7BD7-C8C08F6B8324}"/>
              </a:ext>
            </a:extLst>
          </p:cNvPr>
          <p:cNvSpPr txBox="1">
            <a:spLocks noChangeArrowheads="1"/>
          </p:cNvSpPr>
          <p:nvPr/>
        </p:nvSpPr>
        <p:spPr>
          <a:xfrm>
            <a:off x="995361" y="489856"/>
            <a:ext cx="7318375" cy="935945"/>
          </a:xfrm>
          <a:prstGeom prst="rect">
            <a:avLst/>
          </a:prstGeom>
        </p:spPr>
        <p:txBody>
          <a:bodyPr vert="horz" lIns="90000" tIns="46800" rIns="90000" bIns="4680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PT" altLang="pt-PT" sz="2400" dirty="0">
                <a:solidFill>
                  <a:schemeClr val="bg1"/>
                </a:solidFill>
                <a:latin typeface="+mn-lt"/>
              </a:rPr>
              <a:t>Arquitetura do Sistema</a:t>
            </a:r>
            <a:endParaRPr lang="en-GB" altLang="pt-PT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79793A-A8C5-1B1F-8D72-0F7BCA81726E}"/>
              </a:ext>
            </a:extLst>
          </p:cNvPr>
          <p:cNvSpPr txBox="1">
            <a:spLocks noChangeArrowheads="1"/>
          </p:cNvSpPr>
          <p:nvPr/>
        </p:nvSpPr>
        <p:spPr>
          <a:xfrm>
            <a:off x="995361" y="1688420"/>
            <a:ext cx="4754880" cy="4489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pt-PT" altLang="pt-PT" sz="2200" dirty="0"/>
              <a:t>Três componentes: React, Node.js, Flask</a:t>
            </a:r>
          </a:p>
          <a:p>
            <a:pPr marL="285750" indent="-285750" algn="l"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pt-PT" altLang="pt-PT" sz="2200" dirty="0"/>
              <a:t>Base de dados MySQL</a:t>
            </a:r>
          </a:p>
          <a:p>
            <a:pPr marL="285750" indent="-285750" algn="l"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pt-PT" altLang="pt-PT" sz="2200" dirty="0"/>
              <a:t>Autenticação pelo SSO do DEE</a:t>
            </a:r>
          </a:p>
          <a:p>
            <a:pPr marL="285750" indent="-285750" algn="l"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pt-PT" altLang="pt-PT" sz="2200" dirty="0"/>
              <a:t>Em produção, atrás do proxy do DEE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AD54B76-1911-C1E8-D1E5-64B6CFB757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88363223-A7D7-4BE3-9D77-0C04C3497B37}" type="datetime1">
              <a:rPr lang="en-GB" smtClean="0"/>
              <a:pPr/>
              <a:t>07/09/2026</a:t>
            </a:fld>
            <a:r>
              <a:rPr lang="en-GB" dirty="0"/>
              <a:t> | </a:t>
            </a:r>
            <a:fld id="{79E06065-9178-4AEF-A744-116DA684C8EF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D9C59C-AB0C-AD7F-4437-16DF4E10A4D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362940" y="1638557"/>
            <a:ext cx="3048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LEEC – </a:t>
            </a:r>
            <a:r>
              <a:rPr lang="en-GB" sz="2400" b="1" dirty="0" err="1">
                <a:solidFill>
                  <a:schemeClr val="bg1"/>
                </a:solidFill>
              </a:rPr>
              <a:t>Projeto/Estágio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26480" y="1874519"/>
            <a:ext cx="3246120" cy="640080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 w="19050">
            <a:solidFill>
              <a:srgbClr val="006D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006D93"/>
                </a:solidFill>
                <a:latin typeface="Calibri"/>
              </a:rPr>
              <a:t>Browser</a:t>
            </a:r>
          </a:p>
          <a:p>
            <a:pPr algn="ctr"/>
            <a:r>
              <a:rPr sz="1100">
                <a:solidFill>
                  <a:srgbClr val="1F2A33"/>
                </a:solidFill>
                <a:latin typeface="Calibri"/>
              </a:rPr>
              <a:t>SPA React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724912"/>
            <a:ext cx="3246120" cy="640080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 w="19050">
            <a:solidFill>
              <a:srgbClr val="006D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006D93"/>
                </a:solidFill>
                <a:latin typeface="Calibri"/>
              </a:rPr>
              <a:t>Proxy reverso do DEE</a:t>
            </a:r>
          </a:p>
          <a:p>
            <a:pPr algn="ctr"/>
            <a:r>
              <a:rPr sz="1100">
                <a:solidFill>
                  <a:srgbClr val="1F2A33"/>
                </a:solidFill>
                <a:latin typeface="Calibri"/>
              </a:rPr>
              <a:t>/DEE/micmic-lab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575304"/>
            <a:ext cx="3246120" cy="640080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 w="19050">
            <a:solidFill>
              <a:srgbClr val="006D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006D93"/>
                </a:solidFill>
                <a:latin typeface="Calibri"/>
              </a:rPr>
              <a:t>Backend</a:t>
            </a:r>
          </a:p>
          <a:p>
            <a:pPr algn="ctr"/>
            <a:r>
              <a:rPr sz="1100">
                <a:solidFill>
                  <a:srgbClr val="1F2A33"/>
                </a:solidFill>
                <a:latin typeface="Calibri"/>
              </a:rPr>
              <a:t>Node.js / Express + MySQL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425696"/>
            <a:ext cx="3246120" cy="640080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 w="19050">
            <a:solidFill>
              <a:srgbClr val="006D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006D93"/>
                </a:solidFill>
                <a:latin typeface="Calibri"/>
              </a:rPr>
              <a:t>Raspberry Pi</a:t>
            </a:r>
          </a:p>
          <a:p>
            <a:pPr algn="ctr"/>
            <a:r>
              <a:rPr sz="1100">
                <a:solidFill>
                  <a:srgbClr val="1F2A33"/>
                </a:solidFill>
                <a:latin typeface="Calibri"/>
              </a:rPr>
              <a:t>Flask + hardware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49540" y="2514600"/>
            <a:ext cx="0" cy="210312"/>
          </a:xfrm>
          <a:prstGeom prst="line">
            <a:avLst/>
          </a:prstGeom>
          <a:ln w="19050">
            <a:solidFill>
              <a:srgbClr val="006D9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9540" y="3364991"/>
            <a:ext cx="0" cy="210313"/>
          </a:xfrm>
          <a:prstGeom prst="line">
            <a:avLst/>
          </a:prstGeom>
          <a:ln w="19050">
            <a:solidFill>
              <a:srgbClr val="006D9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49540" y="4215384"/>
            <a:ext cx="0" cy="210312"/>
          </a:xfrm>
          <a:prstGeom prst="line">
            <a:avLst/>
          </a:prstGeom>
          <a:ln w="19050">
            <a:solidFill>
              <a:srgbClr val="006D9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46920" y="3575304"/>
            <a:ext cx="1600200" cy="640080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 w="19050">
            <a:solidFill>
              <a:srgbClr val="006D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006D93"/>
                </a:solidFill>
                <a:latin typeface="Calibri"/>
              </a:rPr>
              <a:t>DEE</a:t>
            </a:r>
          </a:p>
          <a:p>
            <a:pPr algn="ctr"/>
            <a:r>
              <a:rPr sz="1100">
                <a:solidFill>
                  <a:srgbClr val="1F2A33"/>
                </a:solidFill>
                <a:latin typeface="Calibri"/>
              </a:rPr>
              <a:t>Login e JWKS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72600" y="3895344"/>
            <a:ext cx="274320" cy="0"/>
          </a:xfrm>
          <a:prstGeom prst="line">
            <a:avLst/>
          </a:prstGeom>
          <a:ln w="19050">
            <a:solidFill>
              <a:srgbClr val="006D9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372600" y="3264408"/>
            <a:ext cx="1874519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>
                <a:solidFill>
                  <a:srgbClr val="1F2A33"/>
                </a:solidFill>
                <a:latin typeface="Calibri"/>
              </a:rPr>
              <a:t>valida o JWT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5230368"/>
            <a:ext cx="5257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i="1">
                <a:solidFill>
                  <a:srgbClr val="59636B"/>
                </a:solidFill>
                <a:latin typeface="Calibri"/>
              </a:rPr>
              <a:t>Componentes e cadeia de pedidos em produção</a:t>
            </a:r>
          </a:p>
        </p:txBody>
      </p:sp>
    </p:spTree>
    <p:extLst>
      <p:ext uri="{BB962C8B-B14F-4D97-AF65-F5344CB8AC3E}">
        <p14:creationId xmlns:p14="http://schemas.microsoft.com/office/powerpoint/2010/main" val="688889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B743A7-211F-5EB6-7BD7-C8C08F6B8324}"/>
              </a:ext>
            </a:extLst>
          </p:cNvPr>
          <p:cNvSpPr txBox="1">
            <a:spLocks noChangeArrowheads="1"/>
          </p:cNvSpPr>
          <p:nvPr/>
        </p:nvSpPr>
        <p:spPr>
          <a:xfrm>
            <a:off x="995361" y="489856"/>
            <a:ext cx="7318375" cy="935945"/>
          </a:xfrm>
          <a:prstGeom prst="rect">
            <a:avLst/>
          </a:prstGeom>
        </p:spPr>
        <p:txBody>
          <a:bodyPr vert="horz" lIns="90000" tIns="46800" rIns="90000" bIns="4680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PT" altLang="pt-PT" sz="2400" dirty="0">
                <a:solidFill>
                  <a:schemeClr val="bg1"/>
                </a:solidFill>
                <a:latin typeface="+mn-lt"/>
              </a:rPr>
              <a:t>Acesso ao Laboratório e Segurança</a:t>
            </a:r>
            <a:endParaRPr lang="en-GB" altLang="pt-PT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79793A-A8C5-1B1F-8D72-0F7BCA81726E}"/>
              </a:ext>
            </a:extLst>
          </p:cNvPr>
          <p:cNvSpPr txBox="1">
            <a:spLocks noChangeArrowheads="1"/>
          </p:cNvSpPr>
          <p:nvPr/>
        </p:nvSpPr>
        <p:spPr>
          <a:xfrm>
            <a:off x="995361" y="1688420"/>
            <a:ext cx="9966960" cy="2743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 algn="l"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pt-PT" altLang="pt-PT" sz="2400" b="1" dirty="0"/>
              <a:t>Autenticação em duas camadas</a:t>
            </a:r>
          </a:p>
          <a:p>
            <a:pPr marL="822960" lvl="1" indent="-256032" algn="l">
              <a:spcBef>
                <a:spcPts val="200"/>
              </a:spcBef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pt-PT" altLang="pt-PT" sz="2000" dirty="0"/>
              <a:t>SSO do DEE valida a identidade</a:t>
            </a:r>
          </a:p>
          <a:p>
            <a:pPr marL="822960" lvl="1" indent="-256032" algn="l">
              <a:spcBef>
                <a:spcPts val="200"/>
              </a:spcBef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pt-PT" altLang="pt-PT" sz="2000" dirty="0"/>
              <a:t>Token local autoriza a API</a:t>
            </a:r>
          </a:p>
          <a:p>
            <a:pPr marL="274320" indent="-274320" algn="l"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pt-PT" altLang="pt-PT" sz="2400" b="1" dirty="0"/>
              <a:t>Token de sessão para o Raspberry Pi</a:t>
            </a:r>
          </a:p>
          <a:p>
            <a:pPr marL="822960" lvl="1" indent="-256032" algn="l">
              <a:spcBef>
                <a:spcPts val="200"/>
              </a:spcBef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pt-PT" altLang="pt-PT" sz="2000" dirty="0"/>
              <a:t>Expira ao segundo do fim da reserva</a:t>
            </a:r>
          </a:p>
          <a:p>
            <a:pPr marL="822960" lvl="1" indent="-256032" algn="l">
              <a:spcBef>
                <a:spcPts val="200"/>
              </a:spcBef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pt-PT" altLang="pt-PT" sz="2000" dirty="0"/>
              <a:t>Validado no equipamento, sem rede</a:t>
            </a:r>
          </a:p>
          <a:p>
            <a:pPr marL="822960" lvl="1" indent="-256032" algn="l">
              <a:spcBef>
                <a:spcPts val="200"/>
              </a:spcBef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pt-PT" altLang="pt-PT" sz="2000" dirty="0"/>
              <a:t>Revogável por canal de eventos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A6DA18E-154D-83D9-6310-E07FB0E113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F2E9DAE4-E9FC-4FC7-8C34-AD551A1D6256}" type="datetime1">
              <a:rPr lang="en-GB" smtClean="0"/>
              <a:pPr/>
              <a:t>07/09/2026</a:t>
            </a:fld>
            <a:r>
              <a:rPr lang="en-GB" dirty="0"/>
              <a:t> | </a:t>
            </a:r>
            <a:fld id="{79E06065-9178-4AEF-A744-116DA684C8EF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FA7944-DA76-C12E-B678-885824B42C6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362940" y="1638557"/>
            <a:ext cx="3048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LEEC – </a:t>
            </a:r>
            <a:r>
              <a:rPr lang="en-GB" sz="2400" b="1" dirty="0" err="1">
                <a:solidFill>
                  <a:schemeClr val="bg1"/>
                </a:solidFill>
              </a:rPr>
              <a:t>Projeto/Estágio</a:t>
            </a:r>
            <a:endParaRPr lang="en-GB" sz="2400" b="1" dirty="0">
              <a:solidFill>
                <a:schemeClr val="bg1"/>
              </a:solidFill>
            </a:endParaRPr>
          </a:p>
        </p:txBody>
      </p:sp>
      <p:pic>
        <p:nvPicPr>
          <p:cNvPr id="702" name="controlo-ativ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4434840"/>
            <a:ext cx="7863840" cy="1357252"/>
          </a:xfrm>
          <a:prstGeom prst="rect">
            <a:avLst/>
          </a:prstGeom>
          <a:ln w="9525">
            <a:solidFill>
              <a:srgbClr val="C9D3DA"/>
            </a:solidFill>
          </a:ln>
        </p:spPr>
      </p:pic>
      <p:sp>
        <p:nvSpPr>
          <p:cNvPr id="703" name="TextBox 702"/>
          <p:cNvSpPr txBox="1"/>
          <p:nvPr/>
        </p:nvSpPr>
        <p:spPr>
          <a:xfrm>
            <a:off x="1645920" y="5883532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i="1">
                <a:solidFill>
                  <a:srgbClr val="59636B"/>
                </a:solidFill>
                <a:latin typeface="Calibri"/>
              </a:rPr>
              <a:t>Painel de acesso do aluno durante a sessão</a:t>
            </a:r>
          </a:p>
        </p:txBody>
      </p:sp>
    </p:spTree>
    <p:extLst>
      <p:ext uri="{BB962C8B-B14F-4D97-AF65-F5344CB8AC3E}">
        <p14:creationId xmlns:p14="http://schemas.microsoft.com/office/powerpoint/2010/main" val="359660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B743A7-211F-5EB6-7BD7-C8C08F6B8324}"/>
              </a:ext>
            </a:extLst>
          </p:cNvPr>
          <p:cNvSpPr txBox="1">
            <a:spLocks noChangeArrowheads="1"/>
          </p:cNvSpPr>
          <p:nvPr/>
        </p:nvSpPr>
        <p:spPr>
          <a:xfrm>
            <a:off x="995361" y="489856"/>
            <a:ext cx="7318375" cy="935945"/>
          </a:xfrm>
          <a:prstGeom prst="rect">
            <a:avLst/>
          </a:prstGeom>
        </p:spPr>
        <p:txBody>
          <a:bodyPr vert="horz" lIns="90000" tIns="46800" rIns="90000" bIns="4680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PT" altLang="pt-PT" sz="2400" dirty="0">
                <a:solidFill>
                  <a:schemeClr val="bg1"/>
                </a:solidFill>
                <a:latin typeface="+mn-lt"/>
              </a:rPr>
              <a:t>Fila de Espera em Tempo Real</a:t>
            </a:r>
            <a:endParaRPr lang="en-GB" altLang="pt-PT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79793A-A8C5-1B1F-8D72-0F7BCA81726E}"/>
              </a:ext>
            </a:extLst>
          </p:cNvPr>
          <p:cNvSpPr txBox="1">
            <a:spLocks noChangeArrowheads="1"/>
          </p:cNvSpPr>
          <p:nvPr/>
        </p:nvSpPr>
        <p:spPr>
          <a:xfrm>
            <a:off x="995361" y="1688420"/>
            <a:ext cx="4711475" cy="4489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pt-PT" altLang="pt-PT" sz="2200" dirty="0"/>
              <a:t>Dia cheio: o aluno entra na fila</a:t>
            </a:r>
          </a:p>
          <a:p>
            <a:pPr marL="285750" indent="-285750" algn="l"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pt-PT" altLang="pt-PT" sz="2200" dirty="0"/>
              <a:t>Oferta em cascata, não um a um</a:t>
            </a:r>
          </a:p>
          <a:p>
            <a:pPr marL="285750" indent="-285750" algn="l"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pt-PT" altLang="pt-PT" sz="2200" dirty="0"/>
              <a:t>Posição n recebe ao fim de T1 × (n−1)</a:t>
            </a:r>
          </a:p>
          <a:p>
            <a:pPr marL="285750" indent="-285750" algn="l"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pt-PT" altLang="pt-PT" sz="2200" dirty="0"/>
              <a:t>Ofertas acumulam-se: ganha quem aceitar</a:t>
            </a:r>
          </a:p>
          <a:p>
            <a:pPr marL="285750" indent="-285750" algn="l"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pt-PT" altLang="pt-PT" sz="2200" dirty="0"/>
              <a:t>Presença por sinais de vida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6446E89-9451-0288-64A7-2A89870904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A49571F9-FA8E-4FAD-9B89-8C2E7D270555}" type="datetime1">
              <a:rPr lang="en-GB" smtClean="0"/>
              <a:pPr/>
              <a:t>07/09/2026</a:t>
            </a:fld>
            <a:r>
              <a:rPr lang="en-GB" dirty="0"/>
              <a:t> | </a:t>
            </a:r>
            <a:fld id="{79E06065-9178-4AEF-A744-116DA684C8EF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4B07A6-2453-F253-97B0-8AAEF8413E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362940" y="1638557"/>
            <a:ext cx="3048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LEEC – </a:t>
            </a:r>
            <a:r>
              <a:rPr lang="en-GB" sz="2400" b="1" dirty="0" err="1">
                <a:solidFill>
                  <a:schemeClr val="bg1"/>
                </a:solidFill>
              </a:rPr>
              <a:t>Projeto/Estágio</a:t>
            </a:r>
            <a:endParaRPr lang="en-GB" sz="2400" b="1" dirty="0">
              <a:solidFill>
                <a:schemeClr val="bg1"/>
              </a:solidFill>
            </a:endParaRPr>
          </a:p>
        </p:txBody>
      </p:sp>
      <p:pic>
        <p:nvPicPr>
          <p:cNvPr id="704" name="banner-vaga-penden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874519"/>
            <a:ext cx="5257800" cy="3448050"/>
          </a:xfrm>
          <a:prstGeom prst="rect">
            <a:avLst/>
          </a:prstGeom>
          <a:ln w="9525">
            <a:solidFill>
              <a:srgbClr val="C9D3DA"/>
            </a:solidFill>
          </a:ln>
        </p:spPr>
      </p:pic>
      <p:sp>
        <p:nvSpPr>
          <p:cNvPr id="705" name="TextBox 704"/>
          <p:cNvSpPr txBox="1"/>
          <p:nvPr/>
        </p:nvSpPr>
        <p:spPr>
          <a:xfrm>
            <a:off x="5989320" y="5414010"/>
            <a:ext cx="5257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i="1">
                <a:solidFill>
                  <a:srgbClr val="59636B"/>
                </a:solidFill>
                <a:latin typeface="Calibri"/>
              </a:rPr>
              <a:t>Vaga atribuída pela fila de espera</a:t>
            </a:r>
          </a:p>
        </p:txBody>
      </p:sp>
    </p:spTree>
    <p:extLst>
      <p:ext uri="{BB962C8B-B14F-4D97-AF65-F5344CB8AC3E}">
        <p14:creationId xmlns:p14="http://schemas.microsoft.com/office/powerpoint/2010/main" val="1227097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B743A7-211F-5EB6-7BD7-C8C08F6B8324}"/>
              </a:ext>
            </a:extLst>
          </p:cNvPr>
          <p:cNvSpPr txBox="1">
            <a:spLocks noChangeArrowheads="1"/>
          </p:cNvSpPr>
          <p:nvPr/>
        </p:nvSpPr>
        <p:spPr>
          <a:xfrm>
            <a:off x="995361" y="489856"/>
            <a:ext cx="7318375" cy="935945"/>
          </a:xfrm>
          <a:prstGeom prst="rect">
            <a:avLst/>
          </a:prstGeom>
        </p:spPr>
        <p:txBody>
          <a:bodyPr vert="horz" lIns="90000" tIns="46800" rIns="90000" bIns="4680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PT" altLang="pt-PT" sz="2400" dirty="0">
                <a:solidFill>
                  <a:schemeClr val="bg1"/>
                </a:solidFill>
                <a:latin typeface="+mn-lt"/>
              </a:rPr>
              <a:t>Resultados e Validação</a:t>
            </a:r>
            <a:endParaRPr lang="en-GB" altLang="pt-PT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79793A-A8C5-1B1F-8D72-0F7BCA81726E}"/>
              </a:ext>
            </a:extLst>
          </p:cNvPr>
          <p:cNvSpPr txBox="1">
            <a:spLocks noChangeArrowheads="1"/>
          </p:cNvSpPr>
          <p:nvPr/>
        </p:nvSpPr>
        <p:spPr>
          <a:xfrm>
            <a:off x="995361" y="1688420"/>
            <a:ext cx="4711475" cy="4489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pt-PT" altLang="pt-PT" sz="2200" dirty="0"/>
              <a:t>Em funcionamento no DEE</a:t>
            </a:r>
          </a:p>
          <a:p>
            <a:pPr marL="285750" indent="-285750" algn="l"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pt-PT" altLang="pt-PT" sz="2200" dirty="0"/>
              <a:t>Validado com o equipamento real</a:t>
            </a:r>
          </a:p>
          <a:p>
            <a:pPr marL="285750" indent="-285750" algn="l"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pt-PT" altLang="pt-PT" sz="2200" dirty="0"/>
              <a:t>CPU do Raspberry Pi: &gt;300% → &lt;60%</a:t>
            </a:r>
          </a:p>
          <a:p>
            <a:pPr marL="285750" indent="-285750" algn="l"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pt-PT" altLang="pt-PT" sz="2200" dirty="0"/>
              <a:t>Sem espectadores: 10% → 1%</a:t>
            </a:r>
          </a:p>
          <a:p>
            <a:pPr marL="285750" indent="-285750" algn="l">
              <a:buFont typeface="Arial" panose="020B0604020202020204" pitchFamily="34" charset="0"/>
              <a:buChar char="•"/>
              <a:tabLst>
                <a:tab pos="446088" algn="l"/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</a:tabLst>
            </a:pPr>
            <a:r>
              <a:rPr lang="pt-PT" altLang="pt-PT" sz="2200" dirty="0"/>
              <a:t>Sessões abandonadas terminadas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33D41C2-6DF2-3386-0A7B-B21ACEB446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545E81ED-31A7-49A4-AEF9-654C9DE758AE}" type="datetime1">
              <a:rPr lang="en-GB" smtClean="0"/>
              <a:pPr/>
              <a:t>07/09/2026</a:t>
            </a:fld>
            <a:r>
              <a:rPr lang="en-GB" dirty="0"/>
              <a:t> | </a:t>
            </a:r>
            <a:fld id="{79E06065-9178-4AEF-A744-116DA684C8EF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B2E1F1-EE8D-28C2-26DA-9D3942B9AA4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362940" y="1638557"/>
            <a:ext cx="3048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LEEC – </a:t>
            </a:r>
            <a:r>
              <a:rPr lang="en-GB" sz="2400" b="1" dirty="0" err="1">
                <a:solidFill>
                  <a:schemeClr val="bg1"/>
                </a:solidFill>
              </a:rPr>
              <a:t>Projeto/Estágio</a:t>
            </a:r>
            <a:endParaRPr lang="en-GB" sz="2400" b="1" dirty="0">
              <a:solidFill>
                <a:schemeClr val="bg1"/>
              </a:solidFill>
            </a:endParaRPr>
          </a:p>
        </p:txBody>
      </p:sp>
      <p:pic>
        <p:nvPicPr>
          <p:cNvPr id="706" name="admin-posto-viv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103120"/>
            <a:ext cx="5257800" cy="2807502"/>
          </a:xfrm>
          <a:prstGeom prst="rect">
            <a:avLst/>
          </a:prstGeom>
          <a:ln w="9525">
            <a:solidFill>
              <a:srgbClr val="C9D3DA"/>
            </a:solidFill>
          </a:ln>
        </p:spPr>
      </p:pic>
      <p:sp>
        <p:nvSpPr>
          <p:cNvPr id="707" name="TextBox 706"/>
          <p:cNvSpPr txBox="1"/>
          <p:nvPr/>
        </p:nvSpPr>
        <p:spPr>
          <a:xfrm>
            <a:off x="5989320" y="5002062"/>
            <a:ext cx="5257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i="1">
                <a:solidFill>
                  <a:srgbClr val="59636B"/>
                </a:solidFill>
                <a:latin typeface="Calibri"/>
              </a:rPr>
              <a:t>Posto ao vivo no painel de administração</a:t>
            </a:r>
          </a:p>
        </p:txBody>
      </p:sp>
    </p:spTree>
    <p:extLst>
      <p:ext uri="{BB962C8B-B14F-4D97-AF65-F5344CB8AC3E}">
        <p14:creationId xmlns:p14="http://schemas.microsoft.com/office/powerpoint/2010/main" val="2983364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B743A7-211F-5EB6-7BD7-C8C08F6B8324}"/>
              </a:ext>
            </a:extLst>
          </p:cNvPr>
          <p:cNvSpPr txBox="1">
            <a:spLocks noChangeArrowheads="1"/>
          </p:cNvSpPr>
          <p:nvPr/>
        </p:nvSpPr>
        <p:spPr>
          <a:xfrm>
            <a:off x="995361" y="489856"/>
            <a:ext cx="7318375" cy="935945"/>
          </a:xfrm>
          <a:prstGeom prst="rect">
            <a:avLst/>
          </a:prstGeom>
        </p:spPr>
        <p:txBody>
          <a:bodyPr vert="horz" lIns="90000" tIns="46800" rIns="90000" bIns="4680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PT" altLang="pt-PT" sz="2400" dirty="0">
                <a:solidFill>
                  <a:schemeClr val="bg1"/>
                </a:solidFill>
                <a:latin typeface="+mn-lt"/>
              </a:rPr>
              <a:t>Conclusões</a:t>
            </a:r>
            <a:endParaRPr lang="en-GB" altLang="pt-PT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CA4C659-BCA5-CA16-0594-F585934BF4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BF1FD78A-478F-41CE-AD35-D290468BABE0}" type="datetime1">
              <a:rPr lang="en-GB" smtClean="0"/>
              <a:pPr/>
              <a:t>07/09/2026</a:t>
            </a:fld>
            <a:r>
              <a:rPr lang="en-GB" dirty="0"/>
              <a:t> | </a:t>
            </a:r>
            <a:fld id="{79E06065-9178-4AEF-A744-116DA684C8EF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E24055-3F12-C8B3-D556-CB8399A945D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362940" y="1638557"/>
            <a:ext cx="3048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LEEC – </a:t>
            </a:r>
            <a:r>
              <a:rPr lang="en-GB" sz="2400" b="1" dirty="0" err="1">
                <a:solidFill>
                  <a:schemeClr val="bg1"/>
                </a:solidFill>
              </a:rPr>
              <a:t>Projeto/Estágio</a:t>
            </a:r>
            <a:endParaRPr lang="en-GB" sz="2400" b="1" dirty="0">
              <a:solidFill>
                <a:schemeClr val="bg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8786" y="1737360"/>
            <a:ext cx="4892040" cy="283464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37744" rIns="228600" bIns="182880" rtlCol="0" anchor="t"/>
          <a:lstStyle/>
          <a:p>
            <a:pPr algn="ctr">
              <a:spcAft>
                <a:spcPts val="1400"/>
              </a:spcAft>
            </a:pPr>
            <a:r>
              <a:rPr sz="2200" b="1" dirty="0">
                <a:solidFill>
                  <a:srgbClr val="006D93"/>
                </a:solidFill>
                <a:latin typeface="Calibri"/>
              </a:rPr>
              <a:t>O </a:t>
            </a:r>
            <a:r>
              <a:rPr sz="2200" b="1" dirty="0" err="1">
                <a:solidFill>
                  <a:srgbClr val="006D93"/>
                </a:solidFill>
                <a:latin typeface="Calibri"/>
              </a:rPr>
              <a:t>que</a:t>
            </a:r>
            <a:r>
              <a:rPr sz="2200" b="1" dirty="0">
                <a:solidFill>
                  <a:srgbClr val="006D93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006D93"/>
                </a:solidFill>
                <a:latin typeface="Calibri"/>
              </a:rPr>
              <a:t>foi</a:t>
            </a:r>
            <a:r>
              <a:rPr sz="2200" b="1" dirty="0">
                <a:solidFill>
                  <a:srgbClr val="006D93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006D93"/>
                </a:solidFill>
                <a:latin typeface="Calibri"/>
              </a:rPr>
              <a:t>conseguido</a:t>
            </a:r>
            <a:endParaRPr sz="2200" b="1" dirty="0">
              <a:solidFill>
                <a:srgbClr val="006D93"/>
              </a:solidFill>
              <a:latin typeface="Calibri"/>
            </a:endParaRPr>
          </a:p>
          <a:p>
            <a:pPr marL="219456" indent="-219456">
              <a:spcAft>
                <a:spcPts val="1000"/>
              </a:spcAft>
              <a:buFont typeface="Arial"/>
              <a:buChar char="•"/>
            </a:pPr>
            <a:r>
              <a:rPr sz="2000" dirty="0">
                <a:solidFill>
                  <a:srgbClr val="1F2A33"/>
                </a:solidFill>
                <a:latin typeface="Calibri"/>
              </a:rPr>
              <a:t>O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agendamento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substituiu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a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gestão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informal</a:t>
            </a:r>
          </a:p>
          <a:p>
            <a:pPr marL="219456" indent="-219456">
              <a:spcAft>
                <a:spcPts val="1000"/>
              </a:spcAft>
              <a:buFont typeface="Arial"/>
              <a:buChar char="•"/>
            </a:pPr>
            <a:r>
              <a:rPr sz="2000" dirty="0" err="1">
                <a:solidFill>
                  <a:srgbClr val="1F2A33"/>
                </a:solidFill>
                <a:latin typeface="Calibri"/>
              </a:rPr>
              <a:t>Acesso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restrito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ao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período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reservado</a:t>
            </a:r>
            <a:endParaRPr sz="2000" dirty="0">
              <a:solidFill>
                <a:srgbClr val="1F2A33"/>
              </a:solidFill>
              <a:latin typeface="Calibri"/>
            </a:endParaRPr>
          </a:p>
          <a:p>
            <a:pPr marL="219456" indent="-219456">
              <a:spcAft>
                <a:spcPts val="1000"/>
              </a:spcAft>
              <a:buFont typeface="Arial"/>
              <a:buChar char="•"/>
            </a:pPr>
            <a:r>
              <a:rPr sz="2000" dirty="0" err="1">
                <a:solidFill>
                  <a:srgbClr val="1F2A33"/>
                </a:solidFill>
                <a:latin typeface="Calibri"/>
              </a:rPr>
              <a:t>Solução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de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baixo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custo</a:t>
            </a:r>
            <a:r>
              <a:rPr sz="2000" dirty="0">
                <a:solidFill>
                  <a:srgbClr val="1F2A33"/>
                </a:solidFill>
                <a:latin typeface="Calibri"/>
              </a:rPr>
              <a:t>: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reutiliza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o SSO do DEE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594" y="1720565"/>
            <a:ext cx="4892040" cy="283464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37744" rIns="228600" bIns="182880" rtlCol="0" anchor="t"/>
          <a:lstStyle/>
          <a:p>
            <a:pPr algn="ctr">
              <a:spcAft>
                <a:spcPts val="1400"/>
              </a:spcAft>
            </a:pPr>
            <a:r>
              <a:rPr sz="2200" b="1" dirty="0" err="1">
                <a:solidFill>
                  <a:srgbClr val="006D93"/>
                </a:solidFill>
                <a:latin typeface="Calibri"/>
              </a:rPr>
              <a:t>Trabalho</a:t>
            </a:r>
            <a:r>
              <a:rPr sz="2200" b="1" dirty="0">
                <a:solidFill>
                  <a:srgbClr val="006D93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006D93"/>
                </a:solidFill>
                <a:latin typeface="Calibri"/>
              </a:rPr>
              <a:t>futuro</a:t>
            </a:r>
            <a:endParaRPr sz="2200" b="1" dirty="0">
              <a:solidFill>
                <a:srgbClr val="006D93"/>
              </a:solidFill>
              <a:latin typeface="Calibri"/>
            </a:endParaRPr>
          </a:p>
          <a:p>
            <a:pPr marL="219456" indent="-219456">
              <a:spcAft>
                <a:spcPts val="1000"/>
              </a:spcAft>
              <a:buFont typeface="Arial"/>
              <a:buChar char="•"/>
            </a:pPr>
            <a:r>
              <a:rPr lang="pt-PT" sz="2000" dirty="0">
                <a:solidFill>
                  <a:srgbClr val="1F2A33"/>
                </a:solidFill>
                <a:latin typeface="Calibri"/>
              </a:rPr>
              <a:t>Penalização por faltas repetidas</a:t>
            </a:r>
          </a:p>
          <a:p>
            <a:pPr marL="219456" indent="-219456">
              <a:spcAft>
                <a:spcPts val="1000"/>
              </a:spcAft>
              <a:buFont typeface="Arial"/>
              <a:buChar char="•"/>
            </a:pPr>
            <a:r>
              <a:rPr sz="2000" dirty="0" err="1">
                <a:solidFill>
                  <a:srgbClr val="1F2A33"/>
                </a:solidFill>
                <a:latin typeface="Calibri"/>
              </a:rPr>
              <a:t>Configuração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do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sistema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em</a:t>
            </a:r>
            <a:r>
              <a:rPr sz="2000" dirty="0">
                <a:solidFill>
                  <a:srgbClr val="1F2A33"/>
                </a:solidFill>
                <a:latin typeface="Calibri"/>
              </a:rPr>
              <a:t> tempo de </a:t>
            </a:r>
            <a:r>
              <a:rPr sz="2000" dirty="0" err="1">
                <a:solidFill>
                  <a:srgbClr val="1F2A33"/>
                </a:solidFill>
                <a:latin typeface="Calibri"/>
              </a:rPr>
              <a:t>execução</a:t>
            </a:r>
            <a:endParaRPr sz="2000" dirty="0">
              <a:solidFill>
                <a:srgbClr val="1F2A33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0621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399</Words>
  <Application>Microsoft Office PowerPoint</Application>
  <PresentationFormat>Ecrã Panorâmico</PresentationFormat>
  <Paragraphs>84</Paragraphs>
  <Slides>8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Verissimo Santos</dc:creator>
  <cp:lastModifiedBy>Diogo Andre Dias De Sousa</cp:lastModifiedBy>
  <cp:revision>18</cp:revision>
  <dcterms:created xsi:type="dcterms:W3CDTF">2023-07-06T19:25:36Z</dcterms:created>
  <dcterms:modified xsi:type="dcterms:W3CDTF">2026-09-07T16:28:37Z</dcterms:modified>
</cp:coreProperties>
</file>